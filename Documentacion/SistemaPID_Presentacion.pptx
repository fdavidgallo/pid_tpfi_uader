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49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6804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82296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Control PID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ESP32 y Node-RED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32004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834640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Autores: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Emanuel Alejandro Suffo  &amp;  Fabricio David Gallo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18688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Catedra: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 Sistemas Digitales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547872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Profesores: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Guillermo Gerard  &amp;  Ing. Eduardo Velazquez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97764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Autonoma de Entre Rios  |  Facultad de Ciencias y Tecnologia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443484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43484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40280" y="443484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40280" y="443484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/ POO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0" y="443484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443484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40680" y="443484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40680" y="443484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Node-RED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Descripcion del sistema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3920" y="0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Emanuel Suffo &amp; Fabricio Gallo  |  Proyecto de Sistemas Digitales  |  UADER FCYT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construimos?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118872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de control de temperatura para un proceso industrial simulado. El ESP32 lee sensores, ejecuta algoritmos de control (PID y ON-OFF) y actua sobre calentadores. Todo el monitoreo y la configuracion se realiza en tiempo real desde una interfaz web construida en Node-RED.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993392"/>
            <a:ext cx="2743200" cy="2286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993392"/>
            <a:ext cx="274320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993392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99339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8912" y="257860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Termocupla tipo K (MAX6675)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8912" y="3008376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Potenciometro (simulacion)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" y="3438144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Sensor de nivel (ADC)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0" y="1993392"/>
            <a:ext cx="2743200" cy="2286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1993392"/>
            <a:ext cx="2743200" cy="5486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1993392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99339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(ESP32)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64992" y="257860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Control PID discreto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64992" y="3008376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Control ON-OFF / Histeresis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64992" y="3438144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Comunicacion WebSocket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1993392"/>
            <a:ext cx="2743200" cy="2286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1993392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26480" y="1993392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199339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Actuadores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91072" y="257860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Rele (PWM por tiempo)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91072" y="3008376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Transistor (PWM por frecuencia)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91072" y="3438144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Seleccionables en tiempo real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4407408"/>
            <a:ext cx="8595360" cy="438912"/>
          </a:xfrm>
          <a:prstGeom prst="roundRect">
            <a:avLst>
              <a:gd name="adj" fmla="val 208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4407408"/>
            <a:ext cx="859536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4407408"/>
            <a:ext cx="8595360" cy="438912"/>
          </a:xfrm>
          <a:prstGeom prst="roundRect">
            <a:avLst>
              <a:gd name="adj" fmla="val 20833"/>
            </a:avLst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40740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Node-RED (servidor):  Dashboard web con graficos en tiempo real, sliders para Kp/Ki/Kd/Setpoint, selector de sensor y actuador, comunicacion WebSocket bidireccional.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 en el ESP32 — Abstraccion y Encapsulamiento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3920" y="0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 1/3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Emanuel Suffo &amp; Fabricio Gallo  |  Proyecto de Sistemas Digitales  |  UADER FCYT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804672"/>
            <a:ext cx="4023360" cy="4041648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804672"/>
            <a:ext cx="4023360" cy="5486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804672"/>
            <a:ext cx="4023360" cy="475488"/>
          </a:xfrm>
          <a:prstGeom prst="roundRect">
            <a:avLst>
              <a:gd name="adj" fmla="val 19231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80467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Abstraccion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38912" y="13716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SensorDeTemperatura.h define el contrato que TODOS los sensores deben cumplir, sin importar como funcionen internamente: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1965960"/>
            <a:ext cx="3749040" cy="1600200"/>
          </a:xfrm>
          <a:prstGeom prst="roundRect">
            <a:avLst>
              <a:gd name="adj" fmla="val 4571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02996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1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SensorDeTemperatura {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" y="230428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21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virtual void  Inciar() = 0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58368" y="261518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21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virtual float LeerTemperatura() = 0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58368" y="29260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21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virtual bool  EstaAndado() = 0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58368" y="323697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21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virtual String ObtenerTipoDeSensor() = 0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358444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1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8912" y="389534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Ventaja: el codigo de control no sabe si usa una termocupla o un potenciometro. Solo llama a LeerTemperatura().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804672"/>
            <a:ext cx="4297680" cy="4041648"/>
          </a:xfrm>
          <a:prstGeom prst="roundRect">
            <a:avLst>
              <a:gd name="adj" fmla="val 226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804672"/>
            <a:ext cx="429768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0" y="804672"/>
            <a:ext cx="4297680" cy="475488"/>
          </a:xfrm>
          <a:prstGeom prst="roundRect">
            <a:avLst>
              <a:gd name="adj" fmla="val 19231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804672"/>
            <a:ext cx="4206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Encapsulamiento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709160" y="13716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clase oculta sus datos internos y expone solo lo necesario. Ejemplo en PIDDiscreto: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1920240"/>
            <a:ext cx="4069080" cy="804672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195681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56048" y="216712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Kp, Ki, Kd, Ts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56048" y="234086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integral_acum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56048" y="251460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error_anterior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09160" y="2798064"/>
            <a:ext cx="4069080" cy="804672"/>
          </a:xfrm>
          <a:prstGeom prst="roundRect">
            <a:avLst>
              <a:gd name="adj" fmla="val 9091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283464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53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56048" y="304495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Reset()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956048" y="321868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Calcular(double error)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956048" y="339242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setKp/Ki/Kd/Ts(...)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09160" y="3703320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puede corromper integral_acum desde afuera. Solo se modifica a traves de Calcular() o Reset().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 en el ESP32 — Herencia y Polimorfismo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3920" y="0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 2/3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Emanuel Suffo &amp; Fabricio Gallo  |  Proyecto de Sistemas Digitales  |  UADER FCYT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804672"/>
            <a:ext cx="8595360" cy="1572768"/>
          </a:xfrm>
          <a:prstGeom prst="roundRect">
            <a:avLst>
              <a:gd name="adj" fmla="val 58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804672"/>
            <a:ext cx="85953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804672"/>
            <a:ext cx="8595360" cy="402336"/>
          </a:xfrm>
          <a:prstGeom prst="roundRect">
            <a:avLst>
              <a:gd name="adj" fmla="val 2272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804672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Herencia — jerarquia de clases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91840" y="1298448"/>
            <a:ext cx="2560320" cy="512064"/>
          </a:xfrm>
          <a:prstGeom prst="round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F6E56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91840" y="12984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SensorDeTemperatura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155448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abstracta (interfaz)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40280" y="1810512"/>
            <a:ext cx="0" cy="27432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76672" y="1810512"/>
            <a:ext cx="0" cy="27432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1810512"/>
            <a:ext cx="0" cy="27432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40280" y="2084832"/>
            <a:ext cx="47548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40280" y="2084832"/>
            <a:ext cx="0" cy="256032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76672" y="2084832"/>
            <a:ext cx="0" cy="256032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2084832"/>
            <a:ext cx="0" cy="256032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2340864"/>
            <a:ext cx="2286000" cy="512064"/>
          </a:xfrm>
          <a:prstGeom prst="roundRect">
            <a:avLst>
              <a:gd name="adj" fmla="val 14286"/>
            </a:avLst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0040" y="23408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Termocupla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2578608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MAX6675 SPI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91840" y="2340864"/>
            <a:ext cx="2286000" cy="512064"/>
          </a:xfrm>
          <a:prstGeom prst="roundRect">
            <a:avLst>
              <a:gd name="adj" fmla="val 14286"/>
            </a:avLst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291840" y="23408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PotenciometroTemp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91840" y="2578608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analogico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92240" y="2340864"/>
            <a:ext cx="2286000" cy="512064"/>
          </a:xfrm>
          <a:prstGeom prst="roundRect">
            <a:avLst>
              <a:gd name="adj" fmla="val 14286"/>
            </a:avLst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92240" y="23408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(futuro sensor)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92240" y="2578608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 </a:t>
            </a:r>
            <a:r>
              <a:rPr lang="en-US" sz="9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DHT11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2999232"/>
            <a:ext cx="8595360" cy="1755648"/>
          </a:xfrm>
          <a:prstGeom prst="roundRect">
            <a:avLst>
              <a:gd name="adj" fmla="val 520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2999232"/>
            <a:ext cx="85953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999232"/>
            <a:ext cx="8595360" cy="402336"/>
          </a:xfrm>
          <a:prstGeom prst="roundRect">
            <a:avLst>
              <a:gd name="adj" fmla="val 2272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2999232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Polimorfismo — mismo codigo, distinto sensor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57200" y="3493008"/>
            <a:ext cx="5029200" cy="1115568"/>
          </a:xfrm>
          <a:prstGeom prst="roundRect">
            <a:avLst>
              <a:gd name="adj" fmla="val 6557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3538728"/>
            <a:ext cx="4754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35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SensorDeTemperatura* sensor;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94360" y="3689604"/>
            <a:ext cx="4754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35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(usarTermocupla)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94360" y="3840480"/>
            <a:ext cx="4754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35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sensor = new Termocupla(SO, CS, SCK);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94360" y="3991356"/>
            <a:ext cx="4754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35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94360" y="4142232"/>
            <a:ext cx="4754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35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sensor = new PotenciometroTemp(PIN, 0, 100);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94360" y="4293108"/>
            <a:ext cx="4754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94360" y="4443984"/>
            <a:ext cx="4754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35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t = sensor-&gt;LeerTemperatura();  // mismo codigo!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669280" y="3493008"/>
            <a:ext cx="30632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bucle principal no cambia si se agrega un nuevo tipo de sensor. Solo hay que crear una clase que herede de SensorDeTemperatura e implementar los 4 metodos virtuales.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 en el ESP32 — Composicion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3920" y="0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 3/3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Emanuel Suffo &amp; Fabricio Gallo  |  Proyecto de Sistemas Digitales  |  UADER FCYT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8229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Composicion: construir objetos complejos a partir de objetos simples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243584"/>
            <a:ext cx="8595360" cy="2487168"/>
          </a:xfrm>
          <a:prstGeom prst="roundRect">
            <a:avLst>
              <a:gd name="adj" fmla="val 367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243584"/>
            <a:ext cx="8595360" cy="5486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243584"/>
            <a:ext cx="8595360" cy="420624"/>
          </a:xfrm>
          <a:prstGeom prst="roundRect">
            <a:avLst>
              <a:gd name="adj" fmla="val 21739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43584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Control  (la clase principal del sistema)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1792224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EDE9FE"/>
          </a:solidFill>
          <a:ln w="12700">
            <a:solidFill>
              <a:srgbClr val="A78BF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1792224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PIDDiscreto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2139696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Kp, Ki, Kd, Ts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0080" y="235915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integral_acum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0080" y="257860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error_anterior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0080" y="279806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0080" y="30175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Reset()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0080" y="3236976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Calcular(error)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429000" y="1792224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29000" y="1792224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ControlBinario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66160" y="2139696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anchoBanda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566160" y="235915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ultimaSalida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566160" y="257860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566160" y="279806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Reset()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566160" y="30175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Calcular(sp, medicion)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355080" y="1792224"/>
            <a:ext cx="2423160" cy="1691640"/>
          </a:xfrm>
          <a:prstGeom prst="roundRect">
            <a:avLst>
              <a:gd name="adj" fmla="val 5405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355080" y="1792224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y flags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73952" y="2139696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banderaPID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473952" y="235915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banderaOnOff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73952" y="257860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flagSalidaForzada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473952" y="2798064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valorForzado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473952" y="301752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473952" y="3236976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6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CalcularError(sp, med)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65760" y="385876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COMPONE (no hereda) PIDDiscreto y ControlBinario. Puede activar uno, otro o ambos sumando sus salidas.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4343400"/>
            <a:ext cx="2048256" cy="5486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6D28D9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74320" y="4343400"/>
            <a:ext cx="2048256" cy="5486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" y="4407408"/>
            <a:ext cx="1901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Modularidad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47472" y="4590288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el PID sin tocar el ON-OFF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450592" y="4343400"/>
            <a:ext cx="2048256" cy="5486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1D4ED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450592" y="4343400"/>
            <a:ext cx="2048256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23744" y="4407408"/>
            <a:ext cx="1901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Flexibilidad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523744" y="4590288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ambos modos simultaneamente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626864" y="4343400"/>
            <a:ext cx="2048256" cy="5486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15803D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626864" y="4343400"/>
            <a:ext cx="2048256" cy="548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00016" y="4407408"/>
            <a:ext cx="1901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Testeable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00016" y="4590288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PIDDiscreto en forma aislada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803136" y="4343400"/>
            <a:ext cx="2048256" cy="5486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803136" y="4343400"/>
            <a:ext cx="2048256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76288" y="4407408"/>
            <a:ext cx="1901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876288" y="4590288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un controlador fuzzy facilmente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— Comunicacion en tiempo real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3920" y="0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 1/2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Emanuel Suffo &amp; Fabricio Gallo  |  Proyecto de Sistemas Digitales  |  UADER FCYT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8229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WebSocket y no HTTP?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243584"/>
            <a:ext cx="4023360" cy="2286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243584"/>
            <a:ext cx="402336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243584"/>
            <a:ext cx="4023360" cy="402336"/>
          </a:xfrm>
          <a:prstGeom prst="roundRect">
            <a:avLst>
              <a:gd name="adj" fmla="val 2272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243584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REST  (polling)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" y="17373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Cada request abre y cierra conexion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8912" y="206654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El cliente debe preguntar constantemente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8912" y="239572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Alta latencia para datos en vivo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" y="272491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Overhead de headers en cada mensaje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" y="30540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apto para control en tiempo real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1243584"/>
            <a:ext cx="4297680" cy="2286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1243584"/>
            <a:ext cx="42976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1243584"/>
            <a:ext cx="4297680" cy="402336"/>
          </a:xfrm>
          <a:prstGeom prst="roundRect">
            <a:avLst>
              <a:gd name="adj" fmla="val 2272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1243584"/>
            <a:ext cx="4206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 (full-duplex)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36592" y="17373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Conexion persistente (1 handshake)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36592" y="206654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Servidor y cliente envian cuando quieran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36592" y="239572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Latencia minima (&lt;5 ms en LAN)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36592" y="272491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Mensajes sin overhead de HTTP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36592" y="305409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Ideal para telemetria y comandos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3639312"/>
            <a:ext cx="8595360" cy="1170432"/>
          </a:xfrm>
          <a:prstGeom prst="roundRect">
            <a:avLst>
              <a:gd name="adj" fmla="val 781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3639312"/>
            <a:ext cx="85953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639312"/>
            <a:ext cx="8595360" cy="347472"/>
          </a:xfrm>
          <a:prstGeom prst="roundRect">
            <a:avLst>
              <a:gd name="adj" fmla="val 2631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63931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datos en este proyecto  (canal /pepe)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11480" y="4059936"/>
            <a:ext cx="214884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1D4ED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57200" y="4059936"/>
            <a:ext cx="2057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SistemaPID.ino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560320" y="4389120"/>
            <a:ext cx="21945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88920" y="4059936"/>
            <a:ext cx="214884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834640" y="4059936"/>
            <a:ext cx="2057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{"temp":42,...}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937760" y="4389120"/>
            <a:ext cx="21945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83480" y="4059936"/>
            <a:ext cx="214884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DC2626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029200" y="4059936"/>
            <a:ext cx="2057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Node-RED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132320" y="4389120"/>
            <a:ext cx="21945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269480" y="4059936"/>
            <a:ext cx="214884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F59E0B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15200" y="4059936"/>
            <a:ext cx="2057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"kp:2.0"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505456" y="426110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700016" y="426110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986016" y="426110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— Implementacion en el proyecto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3920" y="0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 2/2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Emanuel Suffo &amp; Fabricio Gallo  |  Proyecto de Sistemas Digitales  |  UADER FCYT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804672"/>
            <a:ext cx="4114800" cy="2926080"/>
          </a:xfrm>
          <a:prstGeom prst="roundRect">
            <a:avLst>
              <a:gd name="adj" fmla="val 312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804672"/>
            <a:ext cx="41148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804672"/>
            <a:ext cx="4114800" cy="402336"/>
          </a:xfrm>
          <a:prstGeom prst="roundRect">
            <a:avLst>
              <a:gd name="adj" fmla="val 2272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804672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Comunicaciones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8912" y="1280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 toda la logica de conectividad: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1609344"/>
            <a:ext cx="3840480" cy="329184"/>
          </a:xfrm>
          <a:prstGeom prst="roundRect">
            <a:avLst>
              <a:gd name="adj" fmla="val 16667"/>
            </a:avLst>
          </a:prstGeom>
          <a:solidFill>
            <a:srgbClr val="E6FFFA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162763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5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begin(...)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0" y="162763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WiFi + inicia WSS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1993392"/>
            <a:ext cx="3840480" cy="329184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0116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5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loop()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86000" y="201168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mantiene la conexion viva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2377440"/>
            <a:ext cx="3840480" cy="329184"/>
          </a:xfrm>
          <a:prstGeom prst="roundRect">
            <a:avLst>
              <a:gd name="adj" fmla="val 16667"/>
            </a:avLst>
          </a:prstGeom>
          <a:solidFill>
            <a:srgbClr val="E6FFFA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239572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5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enviarMensaje(msg)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86000" y="239572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 string al servidor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2761488"/>
            <a:ext cx="3840480" cy="329184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277977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5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onMensajeRecibido(cb)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86000" y="2779776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para comandos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" y="3145536"/>
            <a:ext cx="3840480" cy="329184"/>
          </a:xfrm>
          <a:prstGeom prst="roundRect">
            <a:avLst>
              <a:gd name="adj" fmla="val 16667"/>
            </a:avLst>
          </a:prstGeom>
          <a:solidFill>
            <a:srgbClr val="E6FFFA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316382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5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webSocketConectado()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286000" y="3163824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conexion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3611880"/>
            <a:ext cx="4114800" cy="1243584"/>
          </a:xfrm>
          <a:prstGeom prst="roundRect">
            <a:avLst>
              <a:gd name="adj" fmla="val 5882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657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WiFi inteligente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1480" y="3950208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Intenta Contrasenha.h (red predefinida)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Si falla, lanza portal cautivo WiFiManager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Si no se conecta en 120 s, reinicia el ESP32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804672"/>
            <a:ext cx="4206240" cy="1938528"/>
          </a:xfrm>
          <a:prstGeom prst="roundRect">
            <a:avLst>
              <a:gd name="adj" fmla="val 47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804672"/>
            <a:ext cx="420624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804672"/>
            <a:ext cx="4206240" cy="402336"/>
          </a:xfrm>
          <a:prstGeom prst="roundRect">
            <a:avLst>
              <a:gd name="adj" fmla="val 22727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804672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de mensajes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00600" y="12801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 →  Node-RED  (JSON):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00600" y="1554480"/>
            <a:ext cx="3931920" cy="475488"/>
          </a:xfrm>
          <a:prstGeom prst="roundRect">
            <a:avLst>
              <a:gd name="adj" fmla="val 1153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9472" y="158191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{"temperatura":42.5,"setpoint":45,"salida":80,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"modo":"PID","kp":2.0,"ki":0.5,"kd":0.1,"ts":2}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800600" y="21031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Node-RED  →  ESP32  (string):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00600" y="2377440"/>
            <a:ext cx="3931920" cy="292608"/>
          </a:xfrm>
          <a:prstGeom prst="roundRect">
            <a:avLst>
              <a:gd name="adj" fmla="val 1875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19472" y="240487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53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"setpoint:45"   "kp:2.0"   "onoff:on"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63440" y="2834640"/>
            <a:ext cx="4206240" cy="2020824"/>
          </a:xfrm>
          <a:prstGeom prst="roundRect">
            <a:avLst>
              <a:gd name="adj" fmla="val 452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63440" y="2834640"/>
            <a:ext cx="4206240" cy="5486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63440" y="2834640"/>
            <a:ext cx="4206240" cy="402336"/>
          </a:xfrm>
          <a:prstGeom prst="roundRect">
            <a:avLst>
              <a:gd name="adj" fmla="val 22727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09160" y="2834640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 clave en este sistema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800600" y="3328416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Telemetria continua sin polling: el ESP32 envia cada ciclo de muestreo automaticamente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800600" y="367588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Comandos instantaneos: cambiar Kp no espera la proxima solicitud HTTP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800600" y="402336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Reconexion automatica: si cae WiFi, el WebSocketsClient reintenta cada 5 segundos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800600" y="437083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Bidireccional: un solo canal para datos y comandos (full-duplex)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Node-RED — Flujo y Dashboard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3920" y="0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NODE-RED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Emanuel Suffo &amp; Fabricio Gallo  |  Proyecto de Sistemas Digitales  |  UADER FCYT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2057400" cy="82296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1D4ED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822960"/>
            <a:ext cx="2057400" cy="329184"/>
          </a:xfrm>
          <a:prstGeom prst="roundRect">
            <a:avLst>
              <a:gd name="adj" fmla="val 27778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822960"/>
            <a:ext cx="2057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 in  pepe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" y="118872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/pepe — recibe JSON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331720" y="1097280"/>
            <a:ext cx="420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487168" y="822960"/>
            <a:ext cx="2057400" cy="82296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6D28D9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87168" y="822960"/>
            <a:ext cx="2057400" cy="329184"/>
          </a:xfrm>
          <a:prstGeom prst="roundRect">
            <a:avLst>
              <a:gd name="adj" fmla="val 27778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87168" y="822960"/>
            <a:ext cx="2057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Acomodo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60320" y="118872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Parsea JSON a 8 salidas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44568" y="1097280"/>
            <a:ext cx="420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00016" y="822960"/>
            <a:ext cx="2057400" cy="82296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0016" y="822960"/>
            <a:ext cx="2057400" cy="329184"/>
          </a:xfrm>
          <a:prstGeom prst="roundRect">
            <a:avLst>
              <a:gd name="adj" fmla="val 2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0016" y="822960"/>
            <a:ext cx="2057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/ Textos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73168" y="118872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UI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757416" y="1097280"/>
            <a:ext cx="420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912864" y="822960"/>
            <a:ext cx="2057400" cy="82296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DC2626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12864" y="822960"/>
            <a:ext cx="2057400" cy="329184"/>
          </a:xfrm>
          <a:prstGeom prst="roundRect">
            <a:avLst>
              <a:gd name="adj" fmla="val 27778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12864" y="822960"/>
            <a:ext cx="2057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 out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86016" y="118872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 comandos al ESP32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1847088"/>
            <a:ext cx="2816352" cy="2907792"/>
          </a:xfrm>
          <a:prstGeom prst="roundRect">
            <a:avLst>
              <a:gd name="adj" fmla="val 324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1847088"/>
            <a:ext cx="2816352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1847088"/>
            <a:ext cx="2816352" cy="384048"/>
          </a:xfrm>
          <a:prstGeom prst="roundRect">
            <a:avLst>
              <a:gd name="adj" fmla="val 2381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" y="1847088"/>
            <a:ext cx="2706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Pestana Control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20624" y="2304288"/>
            <a:ext cx="2542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Slider Setpoint (0-100 C)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20624" y="2670048"/>
            <a:ext cx="2542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Sliders Kp / Ki / Kd / Ts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20624" y="3035808"/>
            <a:ext cx="2542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PID  ON-OFF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20624" y="3401568"/>
            <a:ext cx="2542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Texto modo actual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20624" y="3767328"/>
            <a:ext cx="2542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Grafico temperatura + setpoint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20624" y="4133088"/>
            <a:ext cx="2542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Grafico salida (%)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46120" y="1847088"/>
            <a:ext cx="2816352" cy="2907792"/>
          </a:xfrm>
          <a:prstGeom prst="roundRect">
            <a:avLst>
              <a:gd name="adj" fmla="val 324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46120" y="1847088"/>
            <a:ext cx="2816352" cy="5486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46120" y="1847088"/>
            <a:ext cx="2816352" cy="384048"/>
          </a:xfrm>
          <a:prstGeom prst="roundRect">
            <a:avLst>
              <a:gd name="adj" fmla="val 23810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00984" y="1847088"/>
            <a:ext cx="2706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Pestana Control Fino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392424" y="2304288"/>
            <a:ext cx="2542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Inputs numericos precisos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392424" y="2670048"/>
            <a:ext cx="2542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Grafico temperatura cubico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392424" y="3035808"/>
            <a:ext cx="2542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Grafico de salida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392424" y="3401568"/>
            <a:ext cx="2542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Gauge tipo brujula 0-100%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17920" y="1847088"/>
            <a:ext cx="2816352" cy="2907792"/>
          </a:xfrm>
          <a:prstGeom prst="roundRect">
            <a:avLst>
              <a:gd name="adj" fmla="val 324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217920" y="1847088"/>
            <a:ext cx="281635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217920" y="1847088"/>
            <a:ext cx="2816352" cy="384048"/>
          </a:xfrm>
          <a:prstGeom prst="roundRect">
            <a:avLst>
              <a:gd name="adj" fmla="val 2381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72784" y="1847088"/>
            <a:ext cx="2706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Pestana Solo Graficas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364224" y="2304288"/>
            <a:ext cx="2542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Chart temperatura con puntos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364224" y="2670048"/>
            <a:ext cx="2542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Termometro visual animado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364224" y="3035808"/>
            <a:ext cx="2542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Grafico salida con puntos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74320" y="4828032"/>
            <a:ext cx="8595360" cy="18288"/>
          </a:xfrm>
          <a:prstGeom prst="roundRect">
            <a:avLst>
              <a:gd name="adj" fmla="val 50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274320" y="4828032"/>
            <a:ext cx="85953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74320" y="4800600"/>
            <a:ext cx="8595360" cy="109728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4800600"/>
            <a:ext cx="84124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Selectores en tiempo real:  Sensor (Termocupla / Potenciometro)  •  Actuador (Rele / Transistor)  •  Periodo del rele (ms)  •  Frecuencia PWM (Hz)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4114800" cy="877824"/>
          </a:xfrm>
          <a:prstGeom prst="roundRect">
            <a:avLst>
              <a:gd name="adj" fmla="val 10417"/>
            </a:avLst>
          </a:prstGeom>
          <a:solidFill>
            <a:srgbClr val="0F2847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15568"/>
            <a:ext cx="475488" cy="877824"/>
          </a:xfrm>
          <a:prstGeom prst="roundRect">
            <a:avLst>
              <a:gd name="adj" fmla="val 19231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15568"/>
            <a:ext cx="475488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24128" y="1207008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Abstraccion y polimorfismo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24128" y="1499616"/>
            <a:ext cx="3456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un nuevo sensor solo requiere crear una clase que herede de SensorDeTemperatura. El resto del codigo no cambia.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00600" y="1115568"/>
            <a:ext cx="4114800" cy="877824"/>
          </a:xfrm>
          <a:prstGeom prst="roundRect">
            <a:avLst>
              <a:gd name="adj" fmla="val 10417"/>
            </a:avLst>
          </a:prstGeom>
          <a:solidFill>
            <a:srgbClr val="0F2847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115568"/>
            <a:ext cx="475488" cy="877824"/>
          </a:xfrm>
          <a:prstGeom prst="roundRect">
            <a:avLst>
              <a:gd name="adj" fmla="val 19231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115568"/>
            <a:ext cx="475488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67528" y="1207008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Encapsulamiento y composicion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67528" y="1499616"/>
            <a:ext cx="3456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compone PIDDiscreto y ControlBinario. Cada uno puede activarse independientemente sin acoplar el codigo.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139696"/>
            <a:ext cx="4114800" cy="877824"/>
          </a:xfrm>
          <a:prstGeom prst="roundRect">
            <a:avLst>
              <a:gd name="adj" fmla="val 10417"/>
            </a:avLst>
          </a:prstGeom>
          <a:solidFill>
            <a:srgbClr val="0F284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139696"/>
            <a:ext cx="475488" cy="877824"/>
          </a:xfrm>
          <a:prstGeom prst="roundRect">
            <a:avLst>
              <a:gd name="adj" fmla="val 1923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139696"/>
            <a:ext cx="475488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24128" y="2231136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full-duplex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24128" y="2523744"/>
            <a:ext cx="3456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Telemetria en tiempo real y comandos instantaneos con un solo canal persistente. Sin polling, sin latencia innecesaria.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2139696"/>
            <a:ext cx="4114800" cy="877824"/>
          </a:xfrm>
          <a:prstGeom prst="roundRect">
            <a:avLst>
              <a:gd name="adj" fmla="val 10417"/>
            </a:avLst>
          </a:prstGeom>
          <a:solidFill>
            <a:srgbClr val="0F284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2139696"/>
            <a:ext cx="475488" cy="877824"/>
          </a:xfrm>
          <a:prstGeom prst="roundRect">
            <a:avLst>
              <a:gd name="adj" fmla="val 19231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139696"/>
            <a:ext cx="475488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67528" y="2231136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Reconexion y robustez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67528" y="2523744"/>
            <a:ext cx="3456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WiFiManager como fallback, reconexion automatica del WebSocket y reinicio del ESP32 ante falla critica de red.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163824"/>
            <a:ext cx="4114800" cy="877824"/>
          </a:xfrm>
          <a:prstGeom prst="roundRect">
            <a:avLst>
              <a:gd name="adj" fmla="val 10417"/>
            </a:avLst>
          </a:prstGeom>
          <a:solidFill>
            <a:srgbClr val="0F284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163824"/>
            <a:ext cx="475488" cy="877824"/>
          </a:xfrm>
          <a:prstGeom prst="roundRect">
            <a:avLst>
              <a:gd name="adj" fmla="val 1923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163824"/>
            <a:ext cx="475488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24128" y="3255264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profesional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24128" y="3547872"/>
            <a:ext cx="3456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Node-RED provee un dashboard completo con graficos, gauges y controles ajustables en vivo desde cualquier navegador.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514600" y="3163824"/>
            <a:ext cx="4114800" cy="877824"/>
          </a:xfrm>
          <a:prstGeom prst="roundRect">
            <a:avLst>
              <a:gd name="adj" fmla="val 10417"/>
            </a:avLst>
          </a:prstGeom>
          <a:solidFill>
            <a:srgbClr val="0F284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14600" y="3163824"/>
            <a:ext cx="475488" cy="877824"/>
          </a:xfrm>
          <a:prstGeom prst="roundRect">
            <a:avLst>
              <a:gd name="adj" fmla="val 1923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14600" y="3163824"/>
            <a:ext cx="475488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081528" y="3255264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profesional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081528" y="3547872"/>
            <a:ext cx="3456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Node-RED provee un dashboard completo con graficos, gauges y controles ajustables en vivo desde cualquier navegador.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Emanuel Alejandro Suffo  &amp;  Fabricio David Gallo  |  Proyecto de Sistemas Digitales  |  UADER FCYT  |  Ing. Gerard &amp; Ing. Velazquez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1270</Words>
  <Application>Microsoft Office PowerPoint</Application>
  <PresentationFormat>Presentación en pantalla (16:9)</PresentationFormat>
  <Paragraphs>220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Control PID - UADER FCYT</dc:title>
  <dc:subject>PptxGenJS Presentation</dc:subject>
  <dc:creator>PptxGenJS</dc:creator>
  <cp:lastModifiedBy>Usuario</cp:lastModifiedBy>
  <cp:revision>2</cp:revision>
  <dcterms:created xsi:type="dcterms:W3CDTF">2026-06-20T08:25:51Z</dcterms:created>
  <dcterms:modified xsi:type="dcterms:W3CDTF">2026-06-20T08:28:43Z</dcterms:modified>
</cp:coreProperties>
</file>